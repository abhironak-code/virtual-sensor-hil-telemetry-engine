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dd62d82-5d50-0920-0b2f-b753537ded9d}">
          <p14:sldIdLst>
            <p14:sldId id="256"/>
            <p14:sldId id="257"/>
          </p14:sldIdLst>
        </p14:section>
        <p14:section name="Design" id="{a7fe32e3-8245-3336-936b-e11340d3f251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2524d823-f500-8c0e-477c-fdf1758e3cf1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Virtual Sensor HIL Telemetry Engine  |  Abhisekh Routray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Virtual Sensor HIL Telemetry Engine  |  Abhisekh Routray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"/>
          <p:cNvSpPr txBox="1"/>
          <p:nvPr/>
        </p:nvSpPr>
        <p:spPr>
          <a:xfrm>
            <a:off x="548640" y="9144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Virtual Sensor HIL Telemetry Engine</a:t>
            </a:r>
            <a:endParaRPr lang="en-US" sz="3800" dirty="0"/>
          </a:p>
        </p:txBody>
      </p:sp>
      <p:sp>
        <p:nvSpPr>
          <p:cNvPr id="3" name="txt2"/>
          <p:cNvSpPr txBox="1"/>
          <p:nvPr/>
        </p:nvSpPr>
        <p:spPr>
          <a:xfrm>
            <a:off x="54864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Abhisekh Routray</a:t>
            </a:r>
            <a:endParaRPr lang="en-US" sz="2400" dirty="0"/>
          </a:p>
        </p:txBody>
      </p:sp>
      <p:sp>
        <p:nvSpPr>
          <p:cNvPr id="4" name="txt3"/>
          <p:cNvSpPr txBox="1"/>
          <p:nvPr/>
        </p:nvSpPr>
        <p:spPr>
          <a:xfrm>
            <a:off x="54864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Reg. No. 2341018198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4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 built this</a:t>
            </a:r>
            <a:endParaRPr lang="en-US" sz="3000" dirty="0"/>
          </a:p>
        </p:txBody>
      </p:sp>
      <p:sp>
        <p:nvSpPr>
          <p:cNvPr id="3" name="card5"/>
          <p:cNvSpPr/>
          <p:nvPr/>
        </p:nvSpPr>
        <p:spPr>
          <a:xfrm>
            <a:off x="54864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6"/>
          <p:cNvSpPr txBox="1"/>
          <p:nvPr/>
        </p:nvSpPr>
        <p:spPr>
          <a:xfrm>
            <a:off x="7772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xt7"/>
          <p:cNvSpPr txBox="1"/>
          <p:nvPr/>
        </p:nvSpPr>
        <p:spPr>
          <a:xfrm>
            <a:off x="777240" y="1920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Testing embedded code usually means real sensors and real wiring. And some faults, like a frozen sensor or a sudden spike, are hard (or unsafe) to repeat whenever you want.</a:t>
            </a:r>
            <a:endParaRPr lang="en-US" sz="1400" dirty="0"/>
          </a:p>
        </p:txBody>
      </p:sp>
      <p:sp>
        <p:nvSpPr>
          <p:cNvPr id="6" name="txt8"/>
          <p:cNvSpPr txBox="1"/>
          <p:nvPr/>
        </p:nvSpPr>
        <p:spPr>
          <a:xfrm>
            <a:off x="77724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My answer</a:t>
            </a:r>
            <a:endParaRPr lang="en-US" sz="1800" dirty="0"/>
          </a:p>
        </p:txBody>
      </p:sp>
      <p:sp>
        <p:nvSpPr>
          <p:cNvPr id="7" name="txt9"/>
          <p:cNvSpPr txBox="1"/>
          <p:nvPr/>
        </p:nvSpPr>
        <p:spPr>
          <a:xfrm>
            <a:off x="77724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the whole test bench into software: a Linux driver plus a C++17 app that act like a heated chamber.</a:t>
            </a:r>
            <a:endParaRPr lang="en-US" sz="1400" dirty="0"/>
          </a:p>
        </p:txBody>
      </p:sp>
      <p:sp>
        <p:nvSpPr>
          <p:cNvPr id="8" name="txt10"/>
          <p:cNvSpPr txBox="1"/>
          <p:nvPr/>
        </p:nvSpPr>
        <p:spPr>
          <a:xfrm>
            <a:off x="466344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 set out to do</a:t>
            </a:r>
            <a:endParaRPr lang="en-US" sz="1800" dirty="0"/>
          </a:p>
        </p:txBody>
      </p:sp>
      <p:sp>
        <p:nvSpPr>
          <p:cNvPr id="9" name="badge11"/>
          <p:cNvSpPr/>
          <p:nvPr/>
        </p:nvSpPr>
        <p:spPr>
          <a:xfrm>
            <a:off x="4663440" y="18745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xt12"/>
          <p:cNvSpPr txBox="1"/>
          <p:nvPr/>
        </p:nvSpPr>
        <p:spPr>
          <a:xfrm>
            <a:off x="46634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xt13"/>
          <p:cNvSpPr txBox="1"/>
          <p:nvPr/>
        </p:nvSpPr>
        <p:spPr>
          <a:xfrm>
            <a:off x="516636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Produce temperature, humidity and pressure readings</a:t>
            </a:r>
            <a:endParaRPr lang="en-US" sz="1400" dirty="0"/>
          </a:p>
        </p:txBody>
      </p:sp>
      <p:sp>
        <p:nvSpPr>
          <p:cNvPr id="12" name="badge14"/>
          <p:cNvSpPr/>
          <p:nvPr/>
        </p:nvSpPr>
        <p:spPr>
          <a:xfrm>
            <a:off x="4663440" y="24048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xt15"/>
          <p:cNvSpPr txBox="1"/>
          <p:nvPr/>
        </p:nvSpPr>
        <p:spPr>
          <a:xfrm>
            <a:off x="46634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xt16"/>
          <p:cNvSpPr txBox="1"/>
          <p:nvPr/>
        </p:nvSpPr>
        <p:spPr>
          <a:xfrm>
            <a:off x="5166360" y="24048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them through a Linux driver or a simulator</a:t>
            </a:r>
            <a:endParaRPr lang="en-US" sz="1400" dirty="0"/>
          </a:p>
        </p:txBody>
      </p:sp>
      <p:sp>
        <p:nvSpPr>
          <p:cNvPr id="15" name="badge17"/>
          <p:cNvSpPr/>
          <p:nvPr/>
        </p:nvSpPr>
        <p:spPr>
          <a:xfrm>
            <a:off x="4663440" y="293522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18"/>
          <p:cNvSpPr txBox="1"/>
          <p:nvPr/>
        </p:nvSpPr>
        <p:spPr>
          <a:xfrm>
            <a:off x="466344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xt19"/>
          <p:cNvSpPr txBox="1"/>
          <p:nvPr/>
        </p:nvSpPr>
        <p:spPr>
          <a:xfrm>
            <a:off x="5166360" y="29352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the chamber at a target with a PID controller</a:t>
            </a:r>
            <a:endParaRPr lang="en-US" sz="1400" dirty="0"/>
          </a:p>
        </p:txBody>
      </p:sp>
      <p:sp>
        <p:nvSpPr>
          <p:cNvPr id="18" name="badge20"/>
          <p:cNvSpPr/>
          <p:nvPr/>
        </p:nvSpPr>
        <p:spPr>
          <a:xfrm>
            <a:off x="4663440" y="346557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xt21"/>
          <p:cNvSpPr txBox="1"/>
          <p:nvPr/>
        </p:nvSpPr>
        <p:spPr>
          <a:xfrm>
            <a:off x="46634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xt22"/>
          <p:cNvSpPr txBox="1"/>
          <p:nvPr/>
        </p:nvSpPr>
        <p:spPr>
          <a:xfrm>
            <a:off x="5166360" y="34655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Spot spikes, stuck values and dropouts</a:t>
            </a:r>
            <a:endParaRPr lang="en-US" sz="1400" dirty="0"/>
          </a:p>
        </p:txBody>
      </p:sp>
      <p:sp>
        <p:nvSpPr>
          <p:cNvPr id="21" name="badge23"/>
          <p:cNvSpPr/>
          <p:nvPr/>
        </p:nvSpPr>
        <p:spPr>
          <a:xfrm>
            <a:off x="4663440" y="399592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xt24"/>
          <p:cNvSpPr txBox="1"/>
          <p:nvPr/>
        </p:nvSpPr>
        <p:spPr>
          <a:xfrm>
            <a:off x="46634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xt25"/>
          <p:cNvSpPr txBox="1"/>
          <p:nvPr/>
        </p:nvSpPr>
        <p:spPr>
          <a:xfrm>
            <a:off x="5166360" y="3995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the heater off if it gets too hot, and show it all in a browser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3" name="card27"/>
          <p:cNvSpPr/>
          <p:nvPr/>
        </p:nvSpPr>
        <p:spPr>
          <a:xfrm>
            <a:off x="548640" y="137160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28"/>
          <p:cNvSpPr txBox="1"/>
          <p:nvPr/>
        </p:nvSpPr>
        <p:spPr>
          <a:xfrm>
            <a:off x="68580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Browser dashboard</a:t>
            </a:r>
            <a:endParaRPr lang="en-US" sz="1600" dirty="0"/>
          </a:p>
        </p:txBody>
      </p:sp>
      <p:sp>
        <p:nvSpPr>
          <p:cNvPr id="5" name="txt29"/>
          <p:cNvSpPr txBox="1"/>
          <p:nvPr/>
        </p:nvSpPr>
        <p:spPr>
          <a:xfrm>
            <a:off x="68580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readings, sets targets, injects faults</a:t>
            </a:r>
            <a:endParaRPr lang="en-US" sz="1400" dirty="0"/>
          </a:p>
        </p:txBody>
      </p:sp>
      <p:sp>
        <p:nvSpPr>
          <p:cNvPr id="6" name="arrow0"/>
          <p:cNvSpPr/>
          <p:nvPr/>
        </p:nvSpPr>
        <p:spPr>
          <a:xfrm>
            <a:off x="2359152" y="2103120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d30"/>
          <p:cNvSpPr/>
          <p:nvPr/>
        </p:nvSpPr>
        <p:spPr>
          <a:xfrm>
            <a:off x="2651760" y="137160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31"/>
          <p:cNvSpPr txBox="1"/>
          <p:nvPr/>
        </p:nvSpPr>
        <p:spPr>
          <a:xfrm>
            <a:off x="278892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C++ web server</a:t>
            </a:r>
            <a:endParaRPr lang="en-US" sz="1600" dirty="0"/>
          </a:p>
        </p:txBody>
      </p:sp>
      <p:sp>
        <p:nvSpPr>
          <p:cNvPr id="9" name="txt32"/>
          <p:cNvSpPr txBox="1"/>
          <p:nvPr/>
        </p:nvSpPr>
        <p:spPr>
          <a:xfrm>
            <a:off x="278892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Serves the page and a small JSON API</a:t>
            </a:r>
            <a:endParaRPr lang="en-US" sz="1400" dirty="0"/>
          </a:p>
        </p:txBody>
      </p:sp>
      <p:sp>
        <p:nvSpPr>
          <p:cNvPr id="10" name="arrow1"/>
          <p:cNvSpPr/>
          <p:nvPr/>
        </p:nvSpPr>
        <p:spPr>
          <a:xfrm>
            <a:off x="4462272" y="2103120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d33"/>
          <p:cNvSpPr/>
          <p:nvPr/>
        </p:nvSpPr>
        <p:spPr>
          <a:xfrm>
            <a:off x="4754880" y="137160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xt34"/>
          <p:cNvSpPr txBox="1"/>
          <p:nvPr/>
        </p:nvSpPr>
        <p:spPr>
          <a:xfrm>
            <a:off x="489204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 thread</a:t>
            </a:r>
            <a:endParaRPr lang="en-US" sz="1600" dirty="0"/>
          </a:p>
        </p:txBody>
      </p:sp>
      <p:sp>
        <p:nvSpPr>
          <p:cNvPr id="13" name="txt35"/>
          <p:cNvSpPr txBox="1"/>
          <p:nvPr/>
        </p:nvSpPr>
        <p:spPr>
          <a:xfrm>
            <a:off x="489204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100 ms: read, check, run PID, drive heater</a:t>
            </a:r>
            <a:endParaRPr lang="en-US" sz="1400" dirty="0"/>
          </a:p>
        </p:txBody>
      </p:sp>
      <p:sp>
        <p:nvSpPr>
          <p:cNvPr id="14" name="arrow2"/>
          <p:cNvSpPr/>
          <p:nvPr/>
        </p:nvSpPr>
        <p:spPr>
          <a:xfrm>
            <a:off x="6565392" y="2103120"/>
            <a:ext cx="31089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36"/>
          <p:cNvSpPr/>
          <p:nvPr/>
        </p:nvSpPr>
        <p:spPr>
          <a:xfrm>
            <a:off x="6858000" y="137160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37"/>
          <p:cNvSpPr txBox="1"/>
          <p:nvPr/>
        </p:nvSpPr>
        <p:spPr>
          <a:xfrm>
            <a:off x="699516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Sensor source</a:t>
            </a:r>
            <a:endParaRPr lang="en-US" sz="1600" dirty="0"/>
          </a:p>
        </p:txBody>
      </p:sp>
      <p:sp>
        <p:nvSpPr>
          <p:cNvPr id="17" name="txt38"/>
          <p:cNvSpPr txBox="1"/>
          <p:nvPr/>
        </p:nvSpPr>
        <p:spPr>
          <a:xfrm>
            <a:off x="699516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Simulator, or the /dev/vsensor0 driver</a:t>
            </a:r>
            <a:endParaRPr lang="en-US" sz="1400" dirty="0"/>
          </a:p>
        </p:txBody>
      </p:sp>
      <p:sp>
        <p:nvSpPr>
          <p:cNvPr id="18" name="card39"/>
          <p:cNvSpPr/>
          <p:nvPr/>
        </p:nvSpPr>
        <p:spPr>
          <a:xfrm>
            <a:off x="5486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40"/>
          <p:cNvSpPr txBox="1"/>
          <p:nvPr/>
        </p:nvSpPr>
        <p:spPr>
          <a:xfrm>
            <a:off x="7315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Shared state</a:t>
            </a:r>
            <a:endParaRPr lang="en-US" sz="1600" dirty="0"/>
          </a:p>
        </p:txBody>
      </p:sp>
      <p:sp>
        <p:nvSpPr>
          <p:cNvPr id="20" name="txt41"/>
          <p:cNvSpPr txBox="1"/>
          <p:nvPr/>
        </p:nvSpPr>
        <p:spPr>
          <a:xfrm>
            <a:off x="7315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mutex keeps the target, fault mode and recent samples safe between threads.</a:t>
            </a:r>
            <a:endParaRPr lang="en-US" sz="1400" dirty="0"/>
          </a:p>
        </p:txBody>
      </p:sp>
      <p:sp>
        <p:nvSpPr>
          <p:cNvPr id="21" name="card42"/>
          <p:cNvSpPr/>
          <p:nvPr/>
        </p:nvSpPr>
        <p:spPr>
          <a:xfrm>
            <a:off x="32918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43"/>
          <p:cNvSpPr txBox="1"/>
          <p:nvPr/>
        </p:nvSpPr>
        <p:spPr>
          <a:xfrm>
            <a:off x="34747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One owner</a:t>
            </a:r>
            <a:endParaRPr lang="en-US" sz="1600" dirty="0"/>
          </a:p>
        </p:txBody>
      </p:sp>
      <p:sp>
        <p:nvSpPr>
          <p:cNvPr id="23" name="txt44"/>
          <p:cNvSpPr txBox="1"/>
          <p:nvPr/>
        </p:nvSpPr>
        <p:spPr>
          <a:xfrm>
            <a:off x="3474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control thread touches the sensor. The web server just leaves commands.</a:t>
            </a:r>
            <a:endParaRPr lang="en-US" sz="1400" dirty="0"/>
          </a:p>
        </p:txBody>
      </p:sp>
      <p:sp>
        <p:nvSpPr>
          <p:cNvPr id="24" name="card45"/>
          <p:cNvSpPr/>
          <p:nvPr/>
        </p:nvSpPr>
        <p:spPr>
          <a:xfrm>
            <a:off x="60350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46"/>
          <p:cNvSpPr txBox="1"/>
          <p:nvPr/>
        </p:nvSpPr>
        <p:spPr>
          <a:xfrm>
            <a:off x="62179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Two modes</a:t>
            </a:r>
            <a:endParaRPr lang="en-US" sz="1600" dirty="0"/>
          </a:p>
        </p:txBody>
      </p:sp>
      <p:sp>
        <p:nvSpPr>
          <p:cNvPr id="26" name="txt47"/>
          <p:cNvSpPr txBox="1"/>
          <p:nvPr/>
        </p:nvSpPr>
        <p:spPr>
          <a:xfrm>
            <a:off x="62179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Simulator runs anywhere. Driver mode needs the kernel module loaded.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48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chamber that lives in software</a:t>
            </a:r>
            <a:endParaRPr lang="en-US" sz="3000" dirty="0"/>
          </a:p>
        </p:txBody>
      </p:sp>
      <p:sp>
        <p:nvSpPr>
          <p:cNvPr id="3" name="txt49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it behaves</a:t>
            </a:r>
            <a:endParaRPr lang="en-US" sz="1800" dirty="0"/>
          </a:p>
        </p:txBody>
      </p:sp>
      <p:sp>
        <p:nvSpPr>
          <p:cNvPr id="4" name="txt50"/>
          <p:cNvSpPr txBox="1"/>
          <p:nvPr/>
        </p:nvSpPr>
        <p:spPr>
          <a:xfrm>
            <a:off x="548640" y="1783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heater pushes the temperature up. Left alone, it slowly drifts back down to room temperature. Humidity dips a little as it warms, and pressure is simulated too.</a:t>
            </a:r>
            <a:endParaRPr lang="en-US" sz="1400" dirty="0"/>
          </a:p>
        </p:txBody>
      </p:sp>
      <p:sp>
        <p:nvSpPr>
          <p:cNvPr id="5" name="txt51"/>
          <p:cNvSpPr txBox="1"/>
          <p:nvPr/>
        </p:nvSpPr>
        <p:spPr>
          <a:xfrm>
            <a:off x="54864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°C</a:t>
            </a:r>
            <a:endParaRPr lang="en-US" sz="4400" dirty="0"/>
          </a:p>
        </p:txBody>
      </p:sp>
      <p:sp>
        <p:nvSpPr>
          <p:cNvPr id="6" name="txt52"/>
          <p:cNvSpPr txBox="1"/>
          <p:nvPr/>
        </p:nvSpPr>
        <p:spPr>
          <a:xfrm>
            <a:off x="5486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ambient level it settles back to. It's a simplified model, not a measurement.</a:t>
            </a:r>
            <a:endParaRPr lang="en-US" sz="1400" dirty="0"/>
          </a:p>
        </p:txBody>
      </p:sp>
      <p:sp>
        <p:nvSpPr>
          <p:cNvPr id="7" name="txt53"/>
          <p:cNvSpPr txBox="1"/>
          <p:nvPr/>
        </p:nvSpPr>
        <p:spPr>
          <a:xfrm>
            <a:off x="457200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Faults I can switch on</a:t>
            </a:r>
            <a:endParaRPr lang="en-US" sz="1800" dirty="0"/>
          </a:p>
        </p:txBody>
      </p:sp>
      <p:sp>
        <p:nvSpPr>
          <p:cNvPr id="8" name="card54"/>
          <p:cNvSpPr/>
          <p:nvPr/>
        </p:nvSpPr>
        <p:spPr>
          <a:xfrm>
            <a:off x="4572000" y="18288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55"/>
          <p:cNvSpPr/>
          <p:nvPr/>
        </p:nvSpPr>
        <p:spPr>
          <a:xfrm>
            <a:off x="4754880" y="20299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56"/>
          <p:cNvSpPr txBox="1"/>
          <p:nvPr/>
        </p:nvSpPr>
        <p:spPr>
          <a:xfrm>
            <a:off x="475488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xt57"/>
          <p:cNvSpPr txBox="1"/>
          <p:nvPr/>
        </p:nvSpPr>
        <p:spPr>
          <a:xfrm>
            <a:off x="53035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Stuck</a:t>
            </a:r>
            <a:endParaRPr lang="en-US" sz="1400" dirty="0"/>
          </a:p>
        </p:txBody>
      </p:sp>
      <p:sp>
        <p:nvSpPr>
          <p:cNvPr id="12" name="txt58"/>
          <p:cNvSpPr txBox="1"/>
          <p:nvPr/>
        </p:nvSpPr>
        <p:spPr>
          <a:xfrm>
            <a:off x="530352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Output freezes at its last value</a:t>
            </a:r>
            <a:endParaRPr lang="en-US" sz="1400" dirty="0"/>
          </a:p>
        </p:txBody>
      </p:sp>
      <p:sp>
        <p:nvSpPr>
          <p:cNvPr id="13" name="card59"/>
          <p:cNvSpPr/>
          <p:nvPr/>
        </p:nvSpPr>
        <p:spPr>
          <a:xfrm>
            <a:off x="4572000" y="27432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60"/>
          <p:cNvSpPr/>
          <p:nvPr/>
        </p:nvSpPr>
        <p:spPr>
          <a:xfrm>
            <a:off x="4754880" y="29443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xt61"/>
          <p:cNvSpPr txBox="1"/>
          <p:nvPr/>
        </p:nvSpPr>
        <p:spPr>
          <a:xfrm>
            <a:off x="47548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xt62"/>
          <p:cNvSpPr txBox="1"/>
          <p:nvPr/>
        </p:nvSpPr>
        <p:spPr>
          <a:xfrm>
            <a:off x="530352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Spike</a:t>
            </a:r>
            <a:endParaRPr lang="en-US" sz="1400" dirty="0"/>
          </a:p>
        </p:txBody>
      </p:sp>
      <p:sp>
        <p:nvSpPr>
          <p:cNvPr id="17" name="txt63"/>
          <p:cNvSpPr txBox="1"/>
          <p:nvPr/>
        </p:nvSpPr>
        <p:spPr>
          <a:xfrm>
            <a:off x="530352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+20 °C glitch on every 10th sample</a:t>
            </a:r>
            <a:endParaRPr lang="en-US" sz="1400" dirty="0"/>
          </a:p>
        </p:txBody>
      </p:sp>
      <p:sp>
        <p:nvSpPr>
          <p:cNvPr id="18" name="card64"/>
          <p:cNvSpPr/>
          <p:nvPr/>
        </p:nvSpPr>
        <p:spPr>
          <a:xfrm>
            <a:off x="4572000" y="36576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65"/>
          <p:cNvSpPr/>
          <p:nvPr/>
        </p:nvSpPr>
        <p:spPr>
          <a:xfrm>
            <a:off x="4754880" y="38587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66"/>
          <p:cNvSpPr txBox="1"/>
          <p:nvPr/>
        </p:nvSpPr>
        <p:spPr>
          <a:xfrm>
            <a:off x="475488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xt67"/>
          <p:cNvSpPr txBox="1"/>
          <p:nvPr/>
        </p:nvSpPr>
        <p:spPr>
          <a:xfrm>
            <a:off x="53035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Dropout</a:t>
            </a:r>
            <a:endParaRPr lang="en-US" sz="1400" dirty="0"/>
          </a:p>
        </p:txBody>
      </p:sp>
      <p:sp>
        <p:nvSpPr>
          <p:cNvPr id="22" name="txt68"/>
          <p:cNvSpPr txBox="1"/>
          <p:nvPr/>
        </p:nvSpPr>
        <p:spPr>
          <a:xfrm>
            <a:off x="530352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read() fails with an I/O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69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happens every 100 ms</a:t>
            </a:r>
            <a:endParaRPr lang="en-US" sz="3000" dirty="0"/>
          </a:p>
        </p:txBody>
      </p:sp>
      <p:sp>
        <p:nvSpPr>
          <p:cNvPr id="3" name="card70"/>
          <p:cNvSpPr/>
          <p:nvPr/>
        </p:nvSpPr>
        <p:spPr>
          <a:xfrm>
            <a:off x="5486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71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72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73"/>
          <p:cNvSpPr txBox="1"/>
          <p:nvPr/>
        </p:nvSpPr>
        <p:spPr>
          <a:xfrm>
            <a:off x="123444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Pick up commands</a:t>
            </a:r>
            <a:endParaRPr lang="en-US" sz="1600" dirty="0"/>
          </a:p>
        </p:txBody>
      </p:sp>
      <p:sp>
        <p:nvSpPr>
          <p:cNvPr id="7" name="txt74"/>
          <p:cNvSpPr txBox="1"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new target or fault mode from the browser.</a:t>
            </a:r>
            <a:endParaRPr lang="en-US" sz="1400" dirty="0"/>
          </a:p>
        </p:txBody>
      </p:sp>
      <p:sp>
        <p:nvSpPr>
          <p:cNvPr id="8" name="card75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76"/>
          <p:cNvSpPr/>
          <p:nvPr/>
        </p:nvSpPr>
        <p:spPr>
          <a:xfrm>
            <a:off x="3474720" y="1554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xt77"/>
          <p:cNvSpPr txBox="1"/>
          <p:nvPr/>
        </p:nvSpPr>
        <p:spPr>
          <a:xfrm>
            <a:off x="34747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78"/>
          <p:cNvSpPr txBox="1"/>
          <p:nvPr/>
        </p:nvSpPr>
        <p:spPr>
          <a:xfrm>
            <a:off x="397764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Read the sensor</a:t>
            </a:r>
            <a:endParaRPr lang="en-US" sz="1600" dirty="0"/>
          </a:p>
        </p:txBody>
      </p:sp>
      <p:sp>
        <p:nvSpPr>
          <p:cNvPr id="12" name="txt79"/>
          <p:cNvSpPr txBox="1"/>
          <p:nvPr/>
        </p:nvSpPr>
        <p:spPr>
          <a:xfrm>
            <a:off x="34747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sample from the driver or the simulator.</a:t>
            </a:r>
            <a:endParaRPr lang="en-US" sz="1400" dirty="0"/>
          </a:p>
        </p:txBody>
      </p:sp>
      <p:sp>
        <p:nvSpPr>
          <p:cNvPr id="13" name="card80"/>
          <p:cNvSpPr/>
          <p:nvPr/>
        </p:nvSpPr>
        <p:spPr>
          <a:xfrm>
            <a:off x="60350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81"/>
          <p:cNvSpPr/>
          <p:nvPr/>
        </p:nvSpPr>
        <p:spPr>
          <a:xfrm>
            <a:off x="6217920" y="1554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82"/>
          <p:cNvSpPr txBox="1"/>
          <p:nvPr/>
        </p:nvSpPr>
        <p:spPr>
          <a:xfrm>
            <a:off x="6217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xt83"/>
          <p:cNvSpPr txBox="1"/>
          <p:nvPr/>
        </p:nvSpPr>
        <p:spPr>
          <a:xfrm>
            <a:off x="672084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 it</a:t>
            </a:r>
            <a:endParaRPr lang="en-US" sz="1600" dirty="0"/>
          </a:p>
        </p:txBody>
      </p:sp>
      <p:sp>
        <p:nvSpPr>
          <p:cNvPr id="17" name="txt84"/>
          <p:cNvSpPr txBox="1"/>
          <p:nvPr/>
        </p:nvSpPr>
        <p:spPr>
          <a:xfrm>
            <a:off x="62179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it believable? Spike, stuck, out of range?</a:t>
            </a:r>
            <a:endParaRPr lang="en-US" sz="1400" dirty="0"/>
          </a:p>
        </p:txBody>
      </p:sp>
      <p:sp>
        <p:nvSpPr>
          <p:cNvPr id="18" name="card85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adge86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xt87"/>
          <p:cNvSpPr txBox="1"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xt88"/>
          <p:cNvSpPr txBox="1"/>
          <p:nvPr/>
        </p:nvSpPr>
        <p:spPr>
          <a:xfrm>
            <a:off x="123444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Decide</a:t>
            </a:r>
            <a:endParaRPr lang="en-US" sz="1600" dirty="0"/>
          </a:p>
        </p:txBody>
      </p:sp>
      <p:sp>
        <p:nvSpPr>
          <p:cNvPr id="22" name="txt89"/>
          <p:cNvSpPr txBox="1"/>
          <p:nvPr/>
        </p:nvSpPr>
        <p:spPr>
          <a:xfrm>
            <a:off x="7315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PID on the last good temperature, unless it's over 100 °C.</a:t>
            </a:r>
            <a:endParaRPr lang="en-US" sz="1400" dirty="0"/>
          </a:p>
        </p:txBody>
      </p:sp>
      <p:sp>
        <p:nvSpPr>
          <p:cNvPr id="23" name="card90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91"/>
          <p:cNvSpPr/>
          <p:nvPr/>
        </p:nvSpPr>
        <p:spPr>
          <a:xfrm>
            <a:off x="3474720" y="3200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xt92"/>
          <p:cNvSpPr txBox="1"/>
          <p:nvPr/>
        </p:nvSpPr>
        <p:spPr>
          <a:xfrm>
            <a:off x="3474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xt93"/>
          <p:cNvSpPr txBox="1"/>
          <p:nvPr/>
        </p:nvSpPr>
        <p:spPr>
          <a:xfrm>
            <a:off x="397764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Drive the heater</a:t>
            </a:r>
            <a:endParaRPr lang="en-US" sz="1600" dirty="0"/>
          </a:p>
        </p:txBody>
      </p:sp>
      <p:sp>
        <p:nvSpPr>
          <p:cNvPr id="27" name="txt94"/>
          <p:cNvSpPr txBox="1"/>
          <p:nvPr/>
        </p:nvSpPr>
        <p:spPr>
          <a:xfrm>
            <a:off x="3474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 the output back out, 0 to 100%.</a:t>
            </a:r>
            <a:endParaRPr lang="en-US" sz="1400" dirty="0"/>
          </a:p>
        </p:txBody>
      </p:sp>
      <p:sp>
        <p:nvSpPr>
          <p:cNvPr id="28" name="card95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96"/>
          <p:cNvSpPr/>
          <p:nvPr/>
        </p:nvSpPr>
        <p:spPr>
          <a:xfrm>
            <a:off x="6217920" y="3200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xt97"/>
          <p:cNvSpPr txBox="1"/>
          <p:nvPr/>
        </p:nvSpPr>
        <p:spPr>
          <a:xfrm>
            <a:off x="6217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xt98"/>
          <p:cNvSpPr txBox="1"/>
          <p:nvPr/>
        </p:nvSpPr>
        <p:spPr>
          <a:xfrm>
            <a:off x="672084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Publish and log</a:t>
            </a:r>
            <a:endParaRPr lang="en-US" sz="1600" dirty="0"/>
          </a:p>
        </p:txBody>
      </p:sp>
      <p:sp>
        <p:nvSpPr>
          <p:cNvPr id="32" name="txt99"/>
          <p:cNvSpPr txBox="1"/>
          <p:nvPr/>
        </p:nvSpPr>
        <p:spPr>
          <a:xfrm>
            <a:off x="62179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the dashboard data and write a CSV 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0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 trusting every reading</a:t>
            </a:r>
            <a:endParaRPr lang="en-US" sz="3000" dirty="0"/>
          </a:p>
        </p:txBody>
      </p:sp>
      <p:sp>
        <p:nvSpPr>
          <p:cNvPr id="3" name="card101"/>
          <p:cNvSpPr/>
          <p:nvPr/>
        </p:nvSpPr>
        <p:spPr>
          <a:xfrm>
            <a:off x="548640" y="1371600"/>
            <a:ext cx="38404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102"/>
          <p:cNvSpPr txBox="1"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PID heater control</a:t>
            </a:r>
            <a:endParaRPr lang="en-US" sz="1800" dirty="0"/>
          </a:p>
        </p:txBody>
      </p:sp>
      <p:sp>
        <p:nvSpPr>
          <p:cNvPr id="5" name="txt103"/>
          <p:cNvSpPr txBox="1"/>
          <p:nvPr/>
        </p:nvSpPr>
        <p:spPr>
          <a:xfrm>
            <a:off x="777240" y="1920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8.0</a:t>
            </a:r>
            <a:endParaRPr lang="en-US" sz="3000" dirty="0"/>
          </a:p>
        </p:txBody>
      </p:sp>
      <p:sp>
        <p:nvSpPr>
          <p:cNvPr id="6" name="txt104"/>
          <p:cNvSpPr txBox="1"/>
          <p:nvPr/>
        </p:nvSpPr>
        <p:spPr>
          <a:xfrm>
            <a:off x="777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Kp</a:t>
            </a:r>
            <a:endParaRPr lang="en-US" sz="1400" dirty="0"/>
          </a:p>
        </p:txBody>
      </p:sp>
      <p:sp>
        <p:nvSpPr>
          <p:cNvPr id="7" name="txt105"/>
          <p:cNvSpPr txBox="1"/>
          <p:nvPr/>
        </p:nvSpPr>
        <p:spPr>
          <a:xfrm>
            <a:off x="1920240" y="1920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0.4</a:t>
            </a:r>
            <a:endParaRPr lang="en-US" sz="3000" dirty="0"/>
          </a:p>
        </p:txBody>
      </p:sp>
      <p:sp>
        <p:nvSpPr>
          <p:cNvPr id="8" name="txt106"/>
          <p:cNvSpPr txBox="1"/>
          <p:nvPr/>
        </p:nvSpPr>
        <p:spPr>
          <a:xfrm>
            <a:off x="1920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Ki</a:t>
            </a:r>
            <a:endParaRPr lang="en-US" sz="1400" dirty="0"/>
          </a:p>
        </p:txBody>
      </p:sp>
      <p:sp>
        <p:nvSpPr>
          <p:cNvPr id="9" name="txt107"/>
          <p:cNvSpPr txBox="1"/>
          <p:nvPr/>
        </p:nvSpPr>
        <p:spPr>
          <a:xfrm>
            <a:off x="3063240" y="1920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1.0</a:t>
            </a:r>
            <a:endParaRPr lang="en-US" sz="3000" dirty="0"/>
          </a:p>
        </p:txBody>
      </p:sp>
      <p:sp>
        <p:nvSpPr>
          <p:cNvPr id="10" name="txt108"/>
          <p:cNvSpPr txBox="1"/>
          <p:nvPr/>
        </p:nvSpPr>
        <p:spPr>
          <a:xfrm>
            <a:off x="3063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Kd</a:t>
            </a:r>
            <a:endParaRPr lang="en-US" sz="1400" dirty="0"/>
          </a:p>
        </p:txBody>
      </p:sp>
      <p:sp>
        <p:nvSpPr>
          <p:cNvPr id="11" name="txt109"/>
          <p:cNvSpPr txBox="1"/>
          <p:nvPr/>
        </p:nvSpPr>
        <p:spPr>
          <a:xfrm>
            <a:off x="77724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stays between 0 and 100%. Anti-windup stops the integral from piling up while the heater is already at full power.</a:t>
            </a:r>
            <a:endParaRPr lang="en-US" sz="1400" dirty="0"/>
          </a:p>
        </p:txBody>
      </p:sp>
      <p:sp>
        <p:nvSpPr>
          <p:cNvPr id="12" name="card110"/>
          <p:cNvSpPr/>
          <p:nvPr/>
        </p:nvSpPr>
        <p:spPr>
          <a:xfrm>
            <a:off x="4663440" y="1371600"/>
            <a:ext cx="39319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111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Three ways a reading gets rejected</a:t>
            </a:r>
            <a:endParaRPr lang="en-US" sz="1800" dirty="0"/>
          </a:p>
        </p:txBody>
      </p:sp>
      <p:sp>
        <p:nvSpPr>
          <p:cNvPr id="14" name="badge112"/>
          <p:cNvSpPr/>
          <p:nvPr/>
        </p:nvSpPr>
        <p:spPr>
          <a:xfrm>
            <a:off x="4892040" y="20391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xt113"/>
          <p:cNvSpPr txBox="1"/>
          <p:nvPr/>
        </p:nvSpPr>
        <p:spPr>
          <a:xfrm>
            <a:off x="489204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xt114"/>
          <p:cNvSpPr txBox="1"/>
          <p:nvPr/>
        </p:nvSpPr>
        <p:spPr>
          <a:xfrm>
            <a:off x="53949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 of range</a:t>
            </a:r>
            <a:endParaRPr lang="en-US" sz="1400" dirty="0"/>
          </a:p>
        </p:txBody>
      </p:sp>
      <p:sp>
        <p:nvSpPr>
          <p:cNvPr id="17" name="txt115"/>
          <p:cNvSpPr txBox="1"/>
          <p:nvPr/>
        </p:nvSpPr>
        <p:spPr>
          <a:xfrm>
            <a:off x="539496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Below -40 °C or above 125 °C</a:t>
            </a:r>
            <a:endParaRPr lang="en-US" sz="1400" dirty="0"/>
          </a:p>
        </p:txBody>
      </p:sp>
      <p:sp>
        <p:nvSpPr>
          <p:cNvPr id="18" name="badge116"/>
          <p:cNvSpPr/>
          <p:nvPr/>
        </p:nvSpPr>
        <p:spPr>
          <a:xfrm>
            <a:off x="4892040" y="2642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xt117"/>
          <p:cNvSpPr txBox="1"/>
          <p:nvPr/>
        </p:nvSpPr>
        <p:spPr>
          <a:xfrm>
            <a:off x="489204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xt118"/>
          <p:cNvSpPr txBox="1"/>
          <p:nvPr/>
        </p:nvSpPr>
        <p:spPr>
          <a:xfrm>
            <a:off x="5394960" y="2569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Spike</a:t>
            </a:r>
            <a:endParaRPr lang="en-US" sz="1400" dirty="0"/>
          </a:p>
        </p:txBody>
      </p:sp>
      <p:sp>
        <p:nvSpPr>
          <p:cNvPr id="21" name="txt119"/>
          <p:cNvSpPr txBox="1"/>
          <p:nvPr/>
        </p:nvSpPr>
        <p:spPr>
          <a:xfrm>
            <a:off x="5394960" y="2825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Jumps more than 5 °C between samples</a:t>
            </a:r>
            <a:endParaRPr lang="en-US" sz="1400" dirty="0"/>
          </a:p>
        </p:txBody>
      </p:sp>
      <p:sp>
        <p:nvSpPr>
          <p:cNvPr id="22" name="badge120"/>
          <p:cNvSpPr/>
          <p:nvPr/>
        </p:nvSpPr>
        <p:spPr>
          <a:xfrm>
            <a:off x="4892040" y="3246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xt121"/>
          <p:cNvSpPr txBox="1"/>
          <p:nvPr/>
        </p:nvSpPr>
        <p:spPr>
          <a:xfrm>
            <a:off x="4892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xt122"/>
          <p:cNvSpPr txBox="1"/>
          <p:nvPr/>
        </p:nvSpPr>
        <p:spPr>
          <a:xfrm>
            <a:off x="539496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Stuck</a:t>
            </a:r>
            <a:endParaRPr lang="en-US" sz="1400" dirty="0"/>
          </a:p>
        </p:txBody>
      </p:sp>
      <p:sp>
        <p:nvSpPr>
          <p:cNvPr id="25" name="txt123"/>
          <p:cNvSpPr txBox="1"/>
          <p:nvPr/>
        </p:nvSpPr>
        <p:spPr>
          <a:xfrm>
            <a:off x="53949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Same value four times in a row</a:t>
            </a:r>
            <a:endParaRPr lang="en-US" sz="1400" dirty="0"/>
          </a:p>
        </p:txBody>
      </p:sp>
      <p:sp>
        <p:nvSpPr>
          <p:cNvPr id="26" name="card124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xt125"/>
          <p:cNvSpPr txBox="1"/>
          <p:nvPr/>
        </p:nvSpPr>
        <p:spPr>
          <a:xfrm>
            <a:off x="77724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When a reading is rejected, the PID keeps using the last good one. Above 100 °C, the heater is cut to 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2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Talking to the kernel</a:t>
            </a:r>
            <a:endParaRPr lang="en-US" sz="3000" dirty="0"/>
          </a:p>
        </p:txBody>
      </p:sp>
      <p:sp>
        <p:nvSpPr>
          <p:cNvPr id="3" name="card127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128"/>
          <p:cNvSpPr txBox="1"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sensor frame</a:t>
            </a:r>
            <a:endParaRPr lang="en-US" sz="1800" dirty="0"/>
          </a:p>
        </p:txBody>
      </p:sp>
      <p:sp>
        <p:nvSpPr>
          <p:cNvPr id="5" name="txt129"/>
          <p:cNvSpPr txBox="1"/>
          <p:nvPr/>
        </p:nvSpPr>
        <p:spPr>
          <a:xfrm>
            <a:off x="777240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Timestamp and sequence number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in milli-degrees 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Humidity in milli-percent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Pressure in pascals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Heater percent and a fault flag</a:t>
            </a:r>
            <a:endParaRPr lang="en-US" sz="1400" dirty="0"/>
          </a:p>
        </p:txBody>
      </p:sp>
      <p:sp>
        <p:nvSpPr>
          <p:cNvPr id="6" name="txt130"/>
          <p:cNvSpPr txBox="1"/>
          <p:nvPr/>
        </p:nvSpPr>
        <p:spPr>
          <a:xfrm>
            <a:off x="77724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All integers, because kernel code avoids floating point.</a:t>
            </a:r>
            <a:endParaRPr lang="en-US" sz="1400" dirty="0"/>
          </a:p>
        </p:txBody>
      </p:sp>
      <p:sp>
        <p:nvSpPr>
          <p:cNvPr id="7" name="card131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xt132"/>
          <p:cNvSpPr txBox="1"/>
          <p:nvPr/>
        </p:nvSpPr>
        <p:spPr>
          <a:xfrm>
            <a:off x="49834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Four ioctl commands</a:t>
            </a:r>
            <a:endParaRPr lang="en-US" sz="1800" dirty="0"/>
          </a:p>
        </p:txBody>
      </p:sp>
      <p:sp>
        <p:nvSpPr>
          <p:cNvPr id="9" name="txt133"/>
          <p:cNvSpPr txBox="1"/>
          <p:nvPr/>
        </p:nvSpPr>
        <p:spPr>
          <a:xfrm>
            <a:off x="498348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VS_IOC_SET_HEATER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Set heater output, 0 to 100%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VS_IOC_SET_FAULT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Pick none, stuck, spike or dropout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VS_IOC_RESET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Reset the device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VS_IOC_GET_STATS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Read reads, faults and dropouts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34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you see in the browser</a:t>
            </a:r>
            <a:endParaRPr lang="en-US" sz="3000" dirty="0"/>
          </a:p>
        </p:txBody>
      </p:sp>
      <p:sp>
        <p:nvSpPr>
          <p:cNvPr id="3" name="txt135"/>
          <p:cNvSpPr txBox="1"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 the dashboard</a:t>
            </a:r>
            <a:endParaRPr lang="en-US" sz="1800" dirty="0"/>
          </a:p>
        </p:txBody>
      </p:sp>
      <p:sp>
        <p:nvSpPr>
          <p:cNvPr id="4" name="badge136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137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138"/>
          <p:cNvSpPr txBox="1"/>
          <p:nvPr/>
        </p:nvSpPr>
        <p:spPr>
          <a:xfrm>
            <a:off x="1051560" y="1874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temperature, humidity and pressure</a:t>
            </a:r>
            <a:endParaRPr lang="en-US" sz="1400" dirty="0"/>
          </a:p>
        </p:txBody>
      </p:sp>
      <p:sp>
        <p:nvSpPr>
          <p:cNvPr id="7" name="badge139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xt140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xt141"/>
          <p:cNvSpPr txBox="1"/>
          <p:nvPr/>
        </p:nvSpPr>
        <p:spPr>
          <a:xfrm>
            <a:off x="1051560" y="2514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the target temperature</a:t>
            </a:r>
            <a:endParaRPr lang="en-US" sz="1400" dirty="0"/>
          </a:p>
        </p:txBody>
      </p:sp>
      <p:sp>
        <p:nvSpPr>
          <p:cNvPr id="10" name="badge14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xt143"/>
          <p:cNvSpPr txBox="1"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xt144"/>
          <p:cNvSpPr txBox="1"/>
          <p:nvPr/>
        </p:nvSpPr>
        <p:spPr>
          <a:xfrm>
            <a:off x="1051560" y="3154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Trigger a spike, stuck or dropout fault</a:t>
            </a:r>
            <a:endParaRPr lang="en-US" sz="1400" dirty="0"/>
          </a:p>
        </p:txBody>
      </p:sp>
      <p:sp>
        <p:nvSpPr>
          <p:cNvPr id="13" name="badge145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xt146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xt147"/>
          <p:cNvSpPr txBox="1"/>
          <p:nvPr/>
        </p:nvSpPr>
        <p:spPr>
          <a:xfrm>
            <a:off x="1051560" y="3794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Watch the event log fill up as it happens</a:t>
            </a:r>
            <a:endParaRPr lang="en-US" sz="1400" dirty="0"/>
          </a:p>
        </p:txBody>
      </p:sp>
      <p:sp>
        <p:nvSpPr>
          <p:cNvPr id="16" name="card148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149"/>
          <p:cNvSpPr txBox="1"/>
          <p:nvPr/>
        </p:nvSpPr>
        <p:spPr>
          <a:xfrm>
            <a:off x="48920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Under the hood</a:t>
            </a:r>
            <a:endParaRPr lang="en-US" sz="1800" dirty="0"/>
          </a:p>
        </p:txBody>
      </p:sp>
      <p:sp>
        <p:nvSpPr>
          <p:cNvPr id="18" name="txt150"/>
          <p:cNvSpPr txBox="1"/>
          <p:nvPr/>
        </p:nvSpPr>
        <p:spPr>
          <a:xfrm>
            <a:off x="48920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/api/data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/api/setpoint?value=55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/api/fault?mode=spike</a:t>
            </a:r>
            <a:endParaRPr lang="en-US" sz="1200" dirty="0"/>
          </a:p>
        </p:txBody>
      </p:sp>
      <p:sp>
        <p:nvSpPr>
          <p:cNvPr id="19" name="txt151"/>
          <p:cNvSpPr txBox="1"/>
          <p:nvPr/>
        </p:nvSpPr>
        <p:spPr>
          <a:xfrm>
            <a:off x="489204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sample also lands in telemetry.csv:</a:t>
            </a:r>
            <a:endParaRPr lang="en-US" sz="1400" dirty="0"/>
          </a:p>
        </p:txBody>
      </p:sp>
      <p:sp>
        <p:nvSpPr>
          <p:cNvPr id="20" name="txt152"/>
          <p:cNvSpPr txBox="1"/>
          <p:nvPr/>
        </p:nvSpPr>
        <p:spPr>
          <a:xfrm>
            <a:off x="489204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seq, temp_c, hum_pct, press_pa, heater_pct, setpoint_c, anomaly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5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3" name="card154"/>
          <p:cNvSpPr/>
          <p:nvPr/>
        </p:nvSpPr>
        <p:spPr>
          <a:xfrm>
            <a:off x="548640" y="1371600"/>
            <a:ext cx="448056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xt155"/>
          <p:cNvSpPr txBox="1"/>
          <p:nvPr/>
        </p:nvSpPr>
        <p:spPr>
          <a:xfrm>
            <a:off x="77724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Simulator mode</a:t>
            </a:r>
            <a:endParaRPr lang="en-US" sz="1800" dirty="0"/>
          </a:p>
        </p:txBody>
      </p:sp>
      <p:sp>
        <p:nvSpPr>
          <p:cNvPr id="5" name="txt156"/>
          <p:cNvSpPr txBox="1"/>
          <p:nvPr/>
        </p:nvSpPr>
        <p:spPr>
          <a:xfrm>
            <a:off x="777240" y="20116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./build/bin/hil_server --mode sim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open http://localhost:8080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itest</a:t>
            </a:r>
            <a:endParaRPr lang="en-US" sz="1200" dirty="0"/>
          </a:p>
        </p:txBody>
      </p:sp>
      <p:sp>
        <p:nvSpPr>
          <p:cNvPr id="6" name="txt157"/>
          <p:cNvSpPr txBox="1"/>
          <p:nvPr/>
        </p:nvSpPr>
        <p:spPr>
          <a:xfrm>
            <a:off x="77724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Ctrl+C stops it. No kernel module needed.</a:t>
            </a:r>
            <a:endParaRPr lang="en-US" sz="1400" dirty="0"/>
          </a:p>
        </p:txBody>
      </p:sp>
      <p:sp>
        <p:nvSpPr>
          <p:cNvPr id="7" name="card158"/>
          <p:cNvSpPr/>
          <p:nvPr/>
        </p:nvSpPr>
        <p:spPr>
          <a:xfrm>
            <a:off x="5303520" y="137160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159"/>
          <p:cNvSpPr txBox="1"/>
          <p:nvPr/>
        </p:nvSpPr>
        <p:spPr>
          <a:xfrm>
            <a:off x="553212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Driver mode</a:t>
            </a:r>
            <a:endParaRPr lang="en-US" sz="1800" dirty="0"/>
          </a:p>
        </p:txBody>
      </p:sp>
      <p:sp>
        <p:nvSpPr>
          <p:cNvPr id="9" name="txt160"/>
          <p:cNvSpPr txBox="1"/>
          <p:nvPr/>
        </p:nvSpPr>
        <p:spPr>
          <a:xfrm>
            <a:off x="5532120" y="20116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driver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./scripts/load_driver.sh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./build/bin/hil_server --mode driver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./scripts/unload_driver.sh</a:t>
            </a:r>
            <a:endParaRPr lang="en-US" sz="1200" dirty="0"/>
          </a:p>
        </p:txBody>
      </p:sp>
      <p:sp>
        <p:nvSpPr>
          <p:cNvPr id="10" name="txt161"/>
          <p:cNvSpPr txBox="1"/>
          <p:nvPr/>
        </p:nvSpPr>
        <p:spPr>
          <a:xfrm>
            <a:off x="5532120" y="3657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Needs kernel headers that match your running kernel.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6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Did it work? The numbers</a:t>
            </a:r>
            <a:endParaRPr lang="en-US" sz="3000" dirty="0"/>
          </a:p>
        </p:txBody>
      </p:sp>
      <p:sp>
        <p:nvSpPr>
          <p:cNvPr id="3" name="card163"/>
          <p:cNvSpPr/>
          <p:nvPr/>
        </p:nvSpPr>
        <p:spPr>
          <a:xfrm>
            <a:off x="548640" y="1371600"/>
            <a:ext cx="18745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164"/>
          <p:cNvSpPr txBox="1"/>
          <p:nvPr/>
        </p:nvSpPr>
        <p:spPr>
          <a:xfrm>
            <a:off x="64008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/ 0</a:t>
            </a:r>
            <a:endParaRPr lang="en-US" sz="2800" dirty="0"/>
          </a:p>
        </p:txBody>
      </p:sp>
      <p:sp>
        <p:nvSpPr>
          <p:cNvPr id="5" name="txt165"/>
          <p:cNvSpPr txBox="1"/>
          <p:nvPr/>
        </p:nvSpPr>
        <p:spPr>
          <a:xfrm>
            <a:off x="68580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integration checks passed / failed</a:t>
            </a:r>
            <a:endParaRPr lang="en-US" sz="1400" dirty="0"/>
          </a:p>
        </p:txBody>
      </p:sp>
      <p:sp>
        <p:nvSpPr>
          <p:cNvPr id="6" name="card166"/>
          <p:cNvSpPr/>
          <p:nvPr/>
        </p:nvSpPr>
        <p:spPr>
          <a:xfrm>
            <a:off x="2606040" y="1371600"/>
            <a:ext cx="18745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167"/>
          <p:cNvSpPr txBox="1"/>
          <p:nvPr/>
        </p:nvSpPr>
        <p:spPr>
          <a:xfrm>
            <a:off x="269748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59.95 °C</a:t>
            </a:r>
            <a:endParaRPr lang="en-US" sz="2800" dirty="0"/>
          </a:p>
        </p:txBody>
      </p:sp>
      <p:sp>
        <p:nvSpPr>
          <p:cNvPr id="8" name="txt168"/>
          <p:cNvSpPr txBox="1"/>
          <p:nvPr/>
        </p:nvSpPr>
        <p:spPr>
          <a:xfrm>
            <a:off x="274320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reached for a 60 °C target</a:t>
            </a:r>
            <a:endParaRPr lang="en-US" sz="1400" dirty="0"/>
          </a:p>
        </p:txBody>
      </p:sp>
      <p:sp>
        <p:nvSpPr>
          <p:cNvPr id="9" name="card169"/>
          <p:cNvSpPr/>
          <p:nvPr/>
        </p:nvSpPr>
        <p:spPr>
          <a:xfrm>
            <a:off x="4663440" y="1371600"/>
            <a:ext cx="18745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170"/>
          <p:cNvSpPr txBox="1"/>
          <p:nvPr/>
        </p:nvSpPr>
        <p:spPr>
          <a:xfrm>
            <a:off x="475488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36%</a:t>
            </a:r>
            <a:endParaRPr lang="en-US" sz="2800" dirty="0"/>
          </a:p>
        </p:txBody>
      </p:sp>
      <p:sp>
        <p:nvSpPr>
          <p:cNvPr id="11" name="txt171"/>
          <p:cNvSpPr txBox="1"/>
          <p:nvPr/>
        </p:nvSpPr>
        <p:spPr>
          <a:xfrm>
            <a:off x="480060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heater output once it settled</a:t>
            </a:r>
            <a:endParaRPr lang="en-US" sz="1400" dirty="0"/>
          </a:p>
        </p:txBody>
      </p:sp>
      <p:sp>
        <p:nvSpPr>
          <p:cNvPr id="12" name="card172"/>
          <p:cNvSpPr/>
          <p:nvPr/>
        </p:nvSpPr>
        <p:spPr>
          <a:xfrm>
            <a:off x="6720840" y="1371600"/>
            <a:ext cx="18745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173"/>
          <p:cNvSpPr txBox="1"/>
          <p:nvPr/>
        </p:nvSpPr>
        <p:spPr>
          <a:xfrm>
            <a:off x="681228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 ms</a:t>
            </a:r>
            <a:endParaRPr lang="en-US" sz="2800" dirty="0"/>
          </a:p>
        </p:txBody>
      </p:sp>
      <p:sp>
        <p:nvSpPr>
          <p:cNvPr id="14" name="txt174"/>
          <p:cNvSpPr txBox="1"/>
          <p:nvPr/>
        </p:nvSpPr>
        <p:spPr>
          <a:xfrm>
            <a:off x="685800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cycle at a fixed rate</a:t>
            </a:r>
            <a:endParaRPr lang="en-US" sz="1400" dirty="0"/>
          </a:p>
        </p:txBody>
      </p:sp>
      <p:sp>
        <p:nvSpPr>
          <p:cNvPr id="15" name="card175"/>
          <p:cNvSpPr/>
          <p:nvPr/>
        </p:nvSpPr>
        <p:spPr>
          <a:xfrm>
            <a:off x="548640" y="329184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176"/>
          <p:cNvSpPr txBox="1"/>
          <p:nvPr/>
        </p:nvSpPr>
        <p:spPr>
          <a:xfrm>
            <a:off x="73152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I checked</a:t>
            </a:r>
            <a:endParaRPr lang="en-US" sz="1600" dirty="0"/>
          </a:p>
        </p:txBody>
      </p:sp>
      <p:sp>
        <p:nvSpPr>
          <p:cNvPr id="17" name="txt177"/>
          <p:cNvSpPr txBox="1"/>
          <p:nvPr/>
        </p:nvSpPr>
        <p:spPr>
          <a:xfrm>
            <a:off x="73152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tests cover the PID, the health checker and simulator faults. Integration tests use curl against the running app.</a:t>
            </a:r>
            <a:endParaRPr lang="en-US" sz="1400" dirty="0"/>
          </a:p>
        </p:txBody>
      </p:sp>
      <p:sp>
        <p:nvSpPr>
          <p:cNvPr id="18" name="card178"/>
          <p:cNvSpPr/>
          <p:nvPr/>
        </p:nvSpPr>
        <p:spPr>
          <a:xfrm>
            <a:off x="4663440" y="329184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179"/>
          <p:cNvSpPr txBox="1"/>
          <p:nvPr/>
        </p:nvSpPr>
        <p:spPr>
          <a:xfrm>
            <a:off x="484632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Worth being honest about</a:t>
            </a:r>
            <a:endParaRPr lang="en-US" sz="1600" dirty="0"/>
          </a:p>
        </p:txBody>
      </p:sp>
      <p:sp>
        <p:nvSpPr>
          <p:cNvPr id="20" name="txt180"/>
          <p:cNvSpPr txBox="1"/>
          <p:nvPr/>
        </p:nvSpPr>
        <p:spPr>
          <a:xfrm>
            <a:off x="484632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These are simulated results, not physical measurements. Driver mode still needs its own run on a matching Linux kernel.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8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it falls short, and what's next</a:t>
            </a:r>
            <a:endParaRPr lang="en-US" sz="3000" dirty="0"/>
          </a:p>
        </p:txBody>
      </p:sp>
      <p:sp>
        <p:nvSpPr>
          <p:cNvPr id="3" name="card182"/>
          <p:cNvSpPr/>
          <p:nvPr/>
        </p:nvSpPr>
        <p:spPr>
          <a:xfrm>
            <a:off x="548640" y="1371600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xt183"/>
          <p:cNvSpPr txBox="1"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Today's limits</a:t>
            </a:r>
            <a:endParaRPr lang="en-US" sz="1800" dirty="0"/>
          </a:p>
        </p:txBody>
      </p:sp>
      <p:sp>
        <p:nvSpPr>
          <p:cNvPr id="5" name="txt184"/>
          <p:cNvSpPr txBox="1"/>
          <p:nvPr/>
        </p:nvSpPr>
        <p:spPr>
          <a:xfrm>
            <a:off x="77724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Simplified chamber model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virtual sensor device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login or encryption, so keep it on localhost</a:t>
            </a:r>
            <a:endParaRPr lang="en-US" sz="1400" dirty="0"/>
          </a:p>
        </p:txBody>
      </p:sp>
      <p:sp>
        <p:nvSpPr>
          <p:cNvPr id="6" name="card185"/>
          <p:cNvSpPr/>
          <p:nvPr/>
        </p:nvSpPr>
        <p:spPr>
          <a:xfrm>
            <a:off x="4754880" y="1371600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xt186"/>
          <p:cNvSpPr txBox="1"/>
          <p:nvPr/>
        </p:nvSpPr>
        <p:spPr>
          <a:xfrm>
            <a:off x="49834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Ideas for next</a:t>
            </a:r>
            <a:endParaRPr lang="en-US" sz="1800" dirty="0"/>
          </a:p>
        </p:txBody>
      </p:sp>
      <p:sp>
        <p:nvSpPr>
          <p:cNvPr id="8" name="txt187"/>
          <p:cNvSpPr txBox="1"/>
          <p:nvPr/>
        </p:nvSpPr>
        <p:spPr>
          <a:xfrm>
            <a:off x="498348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Real sensors over I2C or SPI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Multiple devices and sensor models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Live dashboard updates and long-term storage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Configurable PID settings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88"/>
          <p:cNvSpPr txBox="1"/>
          <p:nvPr/>
        </p:nvSpPr>
        <p:spPr>
          <a:xfrm>
            <a:off x="548640" y="1280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xt189"/>
          <p:cNvSpPr txBox="1"/>
          <p:nvPr/>
        </p:nvSpPr>
        <p:spPr>
          <a:xfrm>
            <a:off x="54864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Abhisekh Routray</a:t>
            </a:r>
            <a:endParaRPr lang="en-US" sz="2400" dirty="0"/>
          </a:p>
        </p:txBody>
      </p:sp>
      <p:sp>
        <p:nvSpPr>
          <p:cNvPr id="4" name="txt190"/>
          <p:cNvSpPr txBox="1"/>
          <p:nvPr/>
        </p:nvSpPr>
        <p:spPr>
          <a:xfrm>
            <a:off x="54864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Reg. No. 2341018198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L Telemetry">
  <a:themeElements>
    <a:clrScheme name="HIL Telemetry">
      <a:dk1>
        <a:srgbClr val="0B2B3A"/>
      </a:dk1>
      <a:lt1>
        <a:srgbClr val="FFFFFF"/>
      </a:lt1>
      <a:dk2>
        <a:srgbClr val="14485C"/>
      </a:dk2>
      <a:lt2>
        <a:srgbClr val="EEF3F5"/>
      </a:lt2>
      <a:accent1>
        <a:srgbClr val="F2A33A"/>
      </a:accent1>
      <a:accent2>
        <a:srgbClr val="1F7A8C"/>
      </a:accent2>
      <a:accent3>
        <a:srgbClr val="E4572E"/>
      </a:accent3>
      <a:accent4>
        <a:srgbClr val="6BA292"/>
      </a:accent4>
      <a:accent5>
        <a:srgbClr val="5C6B73"/>
      </a:accent5>
      <a:accent6>
        <a:srgbClr val="BFD7DB"/>
      </a:accent6>
      <a:hlink>
        <a:srgbClr val="1F7A8C"/>
      </a:hlink>
      <a:folHlink>
        <a:srgbClr val="5C6B73"/>
      </a:folHlink>
    </a:clrScheme>
    <a:fontScheme name="HIL Telemet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Sensor HIL Telemetry Engine</dc:title>
  <dc:subject>PptxGenJS Presentation</dc:subject>
  <dc:creator>Abhisekh Routray</dc:creator>
  <cp:lastModifiedBy>Abhisekh Routray</cp:lastModifiedBy>
  <cp:revision>1</cp:revision>
  <dcterms:created xsi:type="dcterms:W3CDTF">2026-10-04T15:06:15Z</dcterms:created>
  <dcterms:modified xsi:type="dcterms:W3CDTF">2026-10-04T15:06:15Z</dcterms:modified>
</cp:coreProperties>
</file>